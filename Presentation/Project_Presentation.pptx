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695" cy="6858000"/>
  <p:notesSz cx="6858000" cy="12191695"/>
  <p:embeddedFontLst>
    <p:embeddedFont>
      <p:font typeface="Lora"/>
      <p:regular r:id="rId201314"/>
    </p:embeddedFont>
    <p:embeddedFont>
      <p:font typeface="Lora Bold"/>
      <p:regular r:id="rId201315"/>
    </p:embeddedFont>
    <p:embeddedFont>
      <p:font typeface="Source Sans 3"/>
      <p:regular r:id="rId201316"/>
    </p:embeddedFont>
    <p:embeddedFont>
      <p:font typeface="Source Sans 3 Bold"/>
      <p:regular r:id="rId20131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 Id="rId201321" Target="fonts/201321.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81A24"/>
          </a:solidFill>
          <a:ln/>
        </p:spPr>
      </p:sp>
      <p:sp>
        <p:nvSpPr>
          <p:cNvPr id="3" name="Shape 1"/>
          <p:cNvSpPr/>
          <p:nvPr/>
        </p:nvSpPr>
        <p:spPr>
          <a:xfrm>
            <a:off x="0" y="0"/>
            <a:ext cx="12191695" cy="6858000"/>
          </a:xfrm>
          <a:prstGeom prst="rect">
            <a:avLst/>
          </a:prstGeom>
          <a:solidFill>
            <a:srgbClr val="252833"/>
          </a:solidFill>
          <a:ln/>
        </p:spPr>
      </p:sp>
      <p:pic>
        <p:nvPicPr>
          <p:cNvPr id="4" name="Image 0" descr="preencoded.png">
            <a:hlinkClick r:id="rId2" tooltip=""/>
          </p:cNvPr>
          <p:cNvPicPr>
            <a:picLocks noChangeAspect="1"/>
          </p:cNvPicPr>
          <p:nvPr/>
        </p:nvPicPr>
        <p:blipFill>
          <a:blip r:embed="rId1"/>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98086" y="1181398"/>
            <a:ext cx="6223638" cy="3238500"/>
          </a:xfrm>
          <a:prstGeom prst="rect">
            <a:avLst/>
          </a:prstGeom>
          <a:noFill/>
          <a:ln/>
        </p:spPr>
        <p:txBody>
          <a:bodyPr wrap="square" lIns="0" tIns="0" rIns="0" bIns="0" rtlCol="0" anchor="t">
            <a:normAutofit/>
          </a:bodyPr>
          <a:lstStyle/>
          <a:p>
            <a:pPr algn="l" indent="0" marL="0">
              <a:lnSpc>
                <a:spcPct val="104000"/>
              </a:lnSpc>
              <a:buNone/>
            </a:pPr>
            <a:r>
              <a:rPr lang="en-US" sz="5100" dirty="0">
                <a:solidFill>
                  <a:srgbClr val="F98AC7"/>
                </a:solidFill>
                <a:latin typeface="Lora" pitchFamily="34" charset="0"/>
                <a:ea typeface="Lora" pitchFamily="34" charset="-122"/>
                <a:cs typeface="Lora" pitchFamily="34" charset="-120"/>
              </a:rPr>
              <a:t>Containerized Deployment of Scoold Q&amp;A Platform</a:t>
            </a:r>
            <a:endParaRPr lang="en-US" sz="5100" dirty="0"/>
          </a:p>
        </p:txBody>
      </p:sp>
      <p:sp>
        <p:nvSpPr>
          <p:cNvPr id="4" name="Text 1"/>
          <p:cNvSpPr/>
          <p:nvPr/>
        </p:nvSpPr>
        <p:spPr>
          <a:xfrm>
            <a:off x="698086" y="4719042"/>
            <a:ext cx="6223638" cy="957560"/>
          </a:xfrm>
          <a:prstGeom prst="rect">
            <a:avLst/>
          </a:prstGeom>
          <a:noFill/>
          <a:ln/>
        </p:spPr>
        <p:txBody>
          <a:bodyPr wrap="square" lIns="0" tIns="0" rIns="0" bIns="0" rtlCol="0" anchor="t">
            <a:normAutofit/>
          </a:bodyPr>
          <a:lstStyle/>
          <a:p>
            <a:pPr algn="l" indent="0" marL="0">
              <a:lnSpc>
                <a:spcPct val="133000"/>
              </a:lnSpc>
              <a:buNone/>
            </a:pPr>
            <a:r>
              <a:rPr lang="ar-SA" altLang="en-US" sz="1550" dirty="0">
                <a:solidFill>
                  <a:srgbClr val="D6E5EF"/>
                </a:solidFill>
                <a:latin typeface="Source Sans 3" pitchFamily="34" charset="0"/>
                <a:ea typeface="Source Sans 3" pitchFamily="34" charset="-122"/>
                <a:cs typeface="Source Sans 3" pitchFamily="34" charset="-120"/>
              </a:rPr>
              <a:t>Presented by: Amr Bolas</a:t>
            </a:r>
            <a:endParaRPr lang="ar-SA" sz="1550" dirty="0"/>
          </a:p>
          <a:p>
            <a:pPr algn="l" indent="0" marL="0">
              <a:lnSpc>
                <a:spcPct val="133000"/>
              </a:lnSpc>
              <a:buNone/>
            </a:pPr>
            <a:r>
              <a:rPr lang="ar-SA" altLang="en-US" sz="1550" dirty="0">
                <a:solidFill>
                  <a:srgbClr val="D6E5EF"/>
                </a:solidFill>
                <a:latin typeface="Source Sans 3" pitchFamily="34" charset="0"/>
                <a:ea typeface="Source Sans 3" pitchFamily="34" charset="-122"/>
                <a:cs typeface="Source Sans 3" pitchFamily="34" charset="-120"/>
              </a:rPr>
              <a:t>Course: Programming Networks</a:t>
            </a:r>
            <a:endParaRPr lang="ar-SA" sz="1550" dirty="0"/>
          </a:p>
          <a:p>
            <a:pPr algn="l" indent="0" marL="0">
              <a:lnSpc>
                <a:spcPct val="133000"/>
              </a:lnSpc>
              <a:buNone/>
            </a:pPr>
            <a:r>
              <a:rPr lang="ar-SA" altLang="en-US" sz="1550" dirty="0">
                <a:solidFill>
                  <a:srgbClr val="D6E5EF"/>
                </a:solidFill>
                <a:latin typeface="Source Sans 3" pitchFamily="34" charset="0"/>
                <a:ea typeface="Source Sans 3" pitchFamily="34" charset="-122"/>
                <a:cs typeface="Source Sans 3" pitchFamily="34" charset="-120"/>
              </a:rPr>
              <a:t>Instructor: (اسم الدكتور)</a:t>
            </a:r>
            <a:endParaRPr lang="ar-SA" sz="15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98086" y="2048570"/>
            <a:ext cx="6223638" cy="586680"/>
          </a:xfrm>
          <a:prstGeom prst="rect">
            <a:avLst/>
          </a:prstGeom>
          <a:noFill/>
          <a:ln/>
        </p:spPr>
        <p:txBody>
          <a:bodyPr wrap="none" lIns="0" tIns="0" rIns="0" bIns="0" rtlCol="0" anchor="t"/>
          <a:lstStyle/>
          <a:p>
            <a:pPr algn="l" indent="0" marL="0">
              <a:lnSpc>
                <a:spcPct val="104000"/>
              </a:lnSpc>
              <a:buNone/>
            </a:pPr>
            <a:r>
              <a:rPr lang="en-US" sz="3650" dirty="0">
                <a:solidFill>
                  <a:srgbClr val="F98AC7"/>
                </a:solidFill>
                <a:latin typeface="Lora" pitchFamily="34" charset="0"/>
                <a:ea typeface="Lora" pitchFamily="34" charset="-122"/>
                <a:cs typeface="Lora" pitchFamily="34" charset="-120"/>
              </a:rPr>
              <a:t>Project Overview</a:t>
            </a:r>
            <a:endParaRPr lang="en-US" sz="3650" dirty="0"/>
          </a:p>
        </p:txBody>
      </p:sp>
      <p:sp>
        <p:nvSpPr>
          <p:cNvPr id="4" name="Text 1"/>
          <p:cNvSpPr/>
          <p:nvPr/>
        </p:nvSpPr>
        <p:spPr>
          <a:xfrm>
            <a:off x="698086" y="2934395"/>
            <a:ext cx="6223638" cy="1874937"/>
          </a:xfrm>
          <a:prstGeom prst="rect">
            <a:avLst/>
          </a:prstGeom>
          <a:noFill/>
          <a:ln/>
        </p:spPr>
        <p:txBody>
          <a:bodyPr wrap="square" lIns="0" tIns="0" rIns="0" bIns="0" rtlCol="0" anchor="t">
            <a:normAutofit/>
          </a:bodyPr>
          <a:lstStyle/>
          <a:p>
            <a:pPr algn="l" marL="314960" indent="-314960">
              <a:lnSpc>
                <a:spcPct val="133000"/>
              </a:lnSpc>
              <a:buSzPct val="100000"/>
              <a:buChar char="•"/>
            </a:pPr>
            <a:r>
              <a:rPr lang="en-US" sz="1550" dirty="0">
                <a:solidFill>
                  <a:srgbClr val="D6E5EF"/>
                </a:solidFill>
                <a:latin typeface="Source Sans 3" pitchFamily="34" charset="0"/>
                <a:ea typeface="Source Sans 3" pitchFamily="34" charset="-122"/>
                <a:cs typeface="Source Sans 3" pitchFamily="34" charset="-120"/>
              </a:rPr>
              <a:t>Deploy Scoold Q&amp;A platform</a:t>
            </a:r>
            <a:endParaRPr lang="en-US" sz="1550" dirty="0"/>
          </a:p>
          <a:p>
            <a:pPr algn="l" marL="314960" indent="-314960">
              <a:lnSpc>
                <a:spcPct val="133000"/>
              </a:lnSpc>
              <a:buSzPct val="100000"/>
              <a:buChar char="•"/>
            </a:pPr>
            <a:r>
              <a:rPr lang="en-US" sz="1550" dirty="0">
                <a:solidFill>
                  <a:srgbClr val="D6E5EF"/>
                </a:solidFill>
                <a:latin typeface="Source Sans 3" pitchFamily="34" charset="0"/>
                <a:ea typeface="Source Sans 3" pitchFamily="34" charset="-122"/>
                <a:cs typeface="Source Sans 3" pitchFamily="34" charset="-120"/>
              </a:rPr>
              <a:t>Use Docker containers</a:t>
            </a:r>
            <a:endParaRPr lang="en-US" sz="1550" dirty="0"/>
          </a:p>
          <a:p>
            <a:pPr algn="l" marL="314960" indent="-314960">
              <a:lnSpc>
                <a:spcPct val="133000"/>
              </a:lnSpc>
              <a:buSzPct val="100000"/>
              <a:buChar char="•"/>
            </a:pPr>
            <a:r>
              <a:rPr lang="en-US" sz="1550" dirty="0">
                <a:solidFill>
                  <a:srgbClr val="D6E5EF"/>
                </a:solidFill>
                <a:latin typeface="Source Sans 3" pitchFamily="34" charset="0"/>
                <a:ea typeface="Source Sans 3" pitchFamily="34" charset="-122"/>
                <a:cs typeface="Source Sans 3" pitchFamily="34" charset="-120"/>
              </a:rPr>
              <a:t>Host the platform on Proxmox LXC</a:t>
            </a:r>
            <a:endParaRPr lang="en-US" sz="1550" dirty="0"/>
          </a:p>
          <a:p>
            <a:pPr algn="l" marL="314960" indent="-314960">
              <a:lnSpc>
                <a:spcPct val="133000"/>
              </a:lnSpc>
              <a:buSzPct val="100000"/>
              <a:buChar char="•"/>
            </a:pPr>
            <a:r>
              <a:rPr lang="en-US" sz="1550" dirty="0">
                <a:solidFill>
                  <a:srgbClr val="D6E5EF"/>
                </a:solidFill>
                <a:latin typeface="Source Sans 3" pitchFamily="34" charset="0"/>
                <a:ea typeface="Source Sans 3" pitchFamily="34" charset="-122"/>
                <a:cs typeface="Source Sans 3" pitchFamily="34" charset="-120"/>
              </a:rPr>
              <a:t>Publish it using Cloudflare Tunnel</a:t>
            </a:r>
            <a:endParaRPr lang="en-US" sz="1550" dirty="0"/>
          </a:p>
          <a:p>
            <a:pPr algn="l" marL="314960" indent="-314960">
              <a:lnSpc>
                <a:spcPct val="133000"/>
              </a:lnSpc>
              <a:buSzPct val="100000"/>
              <a:buChar char="•"/>
            </a:pPr>
            <a:r>
              <a:rPr lang="en-US" sz="1550" dirty="0">
                <a:solidFill>
                  <a:srgbClr val="D6E5EF"/>
                </a:solidFill>
                <a:latin typeface="Source Sans 3" pitchFamily="34" charset="0"/>
                <a:ea typeface="Source Sans 3" pitchFamily="34" charset="-122"/>
                <a:cs typeface="Source Sans 3" pitchFamily="34" charset="-120"/>
              </a:rPr>
              <a:t>Integrate it with a WordPress website</a:t>
            </a:r>
            <a:endParaRPr lang="en-US" sz="15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98086" y="548580"/>
            <a:ext cx="10795524" cy="293291"/>
          </a:xfrm>
          <a:prstGeom prst="rect">
            <a:avLst/>
          </a:prstGeom>
          <a:noFill/>
          <a:ln/>
        </p:spPr>
        <p:txBody>
          <a:bodyPr wrap="none" lIns="0" tIns="0" rIns="0" bIns="0" rtlCol="0" anchor="t"/>
          <a:lstStyle/>
          <a:p>
            <a:pPr algn="l" indent="0" marL="0">
              <a:lnSpc>
                <a:spcPct val="104000"/>
              </a:lnSpc>
              <a:buNone/>
            </a:pPr>
            <a:r>
              <a:rPr lang="en-US" sz="1800" dirty="0">
                <a:solidFill>
                  <a:srgbClr val="F98AC7"/>
                </a:solidFill>
                <a:latin typeface="Lora" pitchFamily="34" charset="0"/>
                <a:ea typeface="Lora" pitchFamily="34" charset="-122"/>
                <a:cs typeface="Lora" pitchFamily="34" charset="-120"/>
              </a:rPr>
              <a:t>System Architecture</a:t>
            </a:r>
            <a:endParaRPr lang="en-US" sz="1800" dirty="0"/>
          </a:p>
        </p:txBody>
      </p:sp>
      <p:sp>
        <p:nvSpPr>
          <p:cNvPr id="3" name="Text 1"/>
          <p:cNvSpPr/>
          <p:nvPr/>
        </p:nvSpPr>
        <p:spPr>
          <a:xfrm>
            <a:off x="698086" y="941586"/>
            <a:ext cx="11405108" cy="119658"/>
          </a:xfrm>
          <a:prstGeom prst="rect">
            <a:avLst/>
          </a:prstGeom>
          <a:noFill/>
          <a:ln/>
        </p:spPr>
        <p:txBody>
          <a:bodyPr wrap="none" lIns="0" tIns="0" rIns="0" bIns="0" rtlCol="0" anchor="t"/>
          <a:lstStyle/>
          <a:p>
            <a:pPr algn="l" indent="0" marL="0">
              <a:lnSpc>
                <a:spcPct val="100000"/>
              </a:lnSpc>
              <a:buNone/>
            </a:pPr>
            <a:r>
              <a:rPr lang="en-US" sz="750" dirty="0">
                <a:solidFill>
                  <a:srgbClr val="D6E5EF"/>
                </a:solidFill>
                <a:latin typeface="Source Sans 3" pitchFamily="34" charset="0"/>
                <a:ea typeface="Source Sans 3" pitchFamily="34" charset="-122"/>
                <a:cs typeface="Source Sans 3" pitchFamily="34" charset="-120"/>
              </a:rPr>
              <a:t>This slide outlines the architecture for the containerized deployment of the Scoold Q&amp;A platform and WordPress, leveraging virtualization and modern containerization technologies for efficient resource management and secure external access.</a:t>
            </a:r>
            <a:endParaRPr lang="en-US" sz="750" dirty="0"/>
          </a:p>
        </p:txBody>
      </p:sp>
      <p:pic>
        <p:nvPicPr>
          <p:cNvPr id="4" name="Image 0" descr="preencoded.png">    </p:cNvPr>
          <p:cNvPicPr>
            <a:picLocks noChangeAspect="1"/>
          </p:cNvPicPr>
          <p:nvPr/>
        </p:nvPicPr>
        <p:blipFill>
          <a:blip r:embed="rId1"/>
          <a:stretch>
            <a:fillRect/>
          </a:stretch>
        </p:blipFill>
        <p:spPr>
          <a:xfrm>
            <a:off x="698086" y="1117302"/>
            <a:ext cx="9753356" cy="5486400"/>
          </a:xfrm>
          <a:prstGeom prst="rect">
            <a:avLst/>
          </a:prstGeom>
        </p:spPr>
      </p:pic>
      <p:sp>
        <p:nvSpPr>
          <p:cNvPr id="5" name="Text 2"/>
          <p:cNvSpPr/>
          <p:nvPr/>
        </p:nvSpPr>
        <p:spPr>
          <a:xfrm>
            <a:off x="698086" y="6659761"/>
            <a:ext cx="10795524" cy="239316"/>
          </a:xfrm>
          <a:prstGeom prst="rect">
            <a:avLst/>
          </a:prstGeom>
          <a:noFill/>
          <a:ln/>
        </p:spPr>
        <p:txBody>
          <a:bodyPr wrap="square" lIns="0" tIns="0" rIns="0" bIns="0" rtlCol="0" anchor="t">
            <a:normAutofit/>
          </a:bodyPr>
          <a:lstStyle/>
          <a:p>
            <a:pPr algn="l" indent="0" marL="0">
              <a:lnSpc>
                <a:spcPct val="100000"/>
              </a:lnSpc>
              <a:buNone/>
            </a:pPr>
            <a:r>
              <a:rPr lang="en-US" sz="750" dirty="0">
                <a:solidFill>
                  <a:srgbClr val="D6E5EF"/>
                </a:solidFill>
                <a:latin typeface="Source Sans 3" pitchFamily="34" charset="0"/>
                <a:ea typeface="Source Sans 3" pitchFamily="34" charset="-122"/>
                <a:cs typeface="Source Sans 3" pitchFamily="34" charset="-120"/>
              </a:rPr>
              <a:t>The architecture is built on a Proxmox LXC instance, which hosts the Docker environment. Inside Docker, multiple applications including the Para Backend, Scoold Frontend, and WordPress are run as separate containers. Cloudflare Tunnel is utilized to provide a secure and efficient connection from external users to these services, bypassing traditional firewall complexities and enhancing security.</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98086" y="2048570"/>
            <a:ext cx="6223638" cy="586680"/>
          </a:xfrm>
          <a:prstGeom prst="rect">
            <a:avLst/>
          </a:prstGeom>
          <a:noFill/>
          <a:ln/>
        </p:spPr>
        <p:txBody>
          <a:bodyPr wrap="none" lIns="0" tIns="0" rIns="0" bIns="0" rtlCol="0" anchor="t"/>
          <a:lstStyle/>
          <a:p>
            <a:pPr algn="l" indent="0" marL="0">
              <a:lnSpc>
                <a:spcPct val="104000"/>
              </a:lnSpc>
              <a:buNone/>
            </a:pPr>
            <a:r>
              <a:rPr lang="en-US" sz="3650" dirty="0">
                <a:solidFill>
                  <a:srgbClr val="F98AC7"/>
                </a:solidFill>
                <a:latin typeface="Lora" pitchFamily="34" charset="0"/>
                <a:ea typeface="Lora" pitchFamily="34" charset="-122"/>
                <a:cs typeface="Lora" pitchFamily="34" charset="-120"/>
              </a:rPr>
              <a:t>Deploying Scoold</a:t>
            </a:r>
            <a:endParaRPr lang="en-US" sz="3650" dirty="0"/>
          </a:p>
        </p:txBody>
      </p:sp>
      <p:sp>
        <p:nvSpPr>
          <p:cNvPr id="4" name="Text 1"/>
          <p:cNvSpPr/>
          <p:nvPr/>
        </p:nvSpPr>
        <p:spPr>
          <a:xfrm>
            <a:off x="698086" y="2934395"/>
            <a:ext cx="6223638" cy="1874937"/>
          </a:xfrm>
          <a:prstGeom prst="rect">
            <a:avLst/>
          </a:prstGeom>
          <a:noFill/>
          <a:ln/>
        </p:spPr>
        <p:txBody>
          <a:bodyPr wrap="square" lIns="0" tIns="0" rIns="0" bIns="0" rtlCol="0" anchor="t">
            <a:normAutofit/>
          </a:bodyPr>
          <a:lstStyle/>
          <a:p>
            <a:pPr algn="l" marL="314960" indent="-314960">
              <a:lnSpc>
                <a:spcPct val="133000"/>
              </a:lnSpc>
              <a:buSzPct val="100000"/>
              <a:buChar char="•"/>
            </a:pPr>
            <a:r>
              <a:rPr lang="en-US" sz="1550" dirty="0">
                <a:solidFill>
                  <a:srgbClr val="D6E5EF"/>
                </a:solidFill>
                <a:latin typeface="Source Sans 3" pitchFamily="34" charset="0"/>
                <a:ea typeface="Source Sans 3" pitchFamily="34" charset="-122"/>
                <a:cs typeface="Source Sans 3" pitchFamily="34" charset="-120"/>
              </a:rPr>
              <a:t>Created Docker containers for Scoold and Para</a:t>
            </a:r>
            <a:endParaRPr lang="en-US" sz="1550" dirty="0"/>
          </a:p>
          <a:p>
            <a:pPr algn="l" marL="314960" indent="-314960">
              <a:lnSpc>
                <a:spcPct val="133000"/>
              </a:lnSpc>
              <a:buSzPct val="100000"/>
              <a:buChar char="•"/>
            </a:pPr>
            <a:r>
              <a:rPr lang="en-US" sz="1550" dirty="0">
                <a:solidFill>
                  <a:srgbClr val="D6E5EF"/>
                </a:solidFill>
                <a:latin typeface="Source Sans 3" pitchFamily="34" charset="0"/>
                <a:ea typeface="Source Sans 3" pitchFamily="34" charset="-122"/>
                <a:cs typeface="Source Sans 3" pitchFamily="34" charset="-120"/>
              </a:rPr>
              <a:t>Connected both containers using Docker Compose</a:t>
            </a:r>
            <a:endParaRPr lang="en-US" sz="1550" dirty="0"/>
          </a:p>
          <a:p>
            <a:pPr algn="l" marL="314960" indent="-314960">
              <a:lnSpc>
                <a:spcPct val="133000"/>
              </a:lnSpc>
              <a:buSzPct val="100000"/>
              <a:buChar char="•"/>
            </a:pPr>
            <a:r>
              <a:rPr lang="en-US" sz="1550" dirty="0">
                <a:solidFill>
                  <a:srgbClr val="D6E5EF"/>
                </a:solidFill>
                <a:latin typeface="Source Sans 3" pitchFamily="34" charset="0"/>
                <a:ea typeface="Source Sans 3" pitchFamily="34" charset="-122"/>
                <a:cs typeface="Source Sans 3" pitchFamily="34" charset="-120"/>
              </a:rPr>
              <a:t>Configured environment variables</a:t>
            </a:r>
            <a:endParaRPr lang="en-US" sz="1550" dirty="0"/>
          </a:p>
          <a:p>
            <a:pPr algn="l" marL="314960" indent="-314960">
              <a:lnSpc>
                <a:spcPct val="133000"/>
              </a:lnSpc>
              <a:buSzPct val="100000"/>
              <a:buChar char="•"/>
            </a:pPr>
            <a:r>
              <a:rPr lang="en-US" sz="1550" dirty="0">
                <a:solidFill>
                  <a:srgbClr val="D6E5EF"/>
                </a:solidFill>
                <a:latin typeface="Source Sans 3" pitchFamily="34" charset="0"/>
                <a:ea typeface="Source Sans 3" pitchFamily="34" charset="-122"/>
                <a:cs typeface="Source Sans 3" pitchFamily="34" charset="-120"/>
              </a:rPr>
              <a:t>Verified internal communication</a:t>
            </a:r>
            <a:endParaRPr lang="en-US" sz="1550" dirty="0"/>
          </a:p>
          <a:p>
            <a:pPr algn="l" marL="314960" indent="-314960">
              <a:lnSpc>
                <a:spcPct val="133000"/>
              </a:lnSpc>
              <a:buSzPct val="100000"/>
              <a:buChar char="•"/>
            </a:pPr>
            <a:r>
              <a:rPr lang="en-US" sz="1550" dirty="0">
                <a:solidFill>
                  <a:srgbClr val="D6E5EF"/>
                </a:solidFill>
                <a:latin typeface="Source Sans 3" pitchFamily="34" charset="0"/>
                <a:ea typeface="Source Sans 3" pitchFamily="34" charset="-122"/>
                <a:cs typeface="Source Sans 3" pitchFamily="34" charset="-120"/>
              </a:rPr>
              <a:t>Confirmed successful startup</a:t>
            </a:r>
            <a:endParaRPr lang="en-US" sz="15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98086" y="2048570"/>
            <a:ext cx="6223638" cy="586680"/>
          </a:xfrm>
          <a:prstGeom prst="rect">
            <a:avLst/>
          </a:prstGeom>
          <a:noFill/>
          <a:ln/>
        </p:spPr>
        <p:txBody>
          <a:bodyPr wrap="none" lIns="0" tIns="0" rIns="0" bIns="0" rtlCol="0" anchor="t"/>
          <a:lstStyle/>
          <a:p>
            <a:pPr algn="l" indent="0" marL="0">
              <a:lnSpc>
                <a:spcPct val="104000"/>
              </a:lnSpc>
              <a:buNone/>
            </a:pPr>
            <a:r>
              <a:rPr lang="en-US" sz="3650" dirty="0">
                <a:solidFill>
                  <a:srgbClr val="F98AC7"/>
                </a:solidFill>
                <a:latin typeface="Lora" pitchFamily="34" charset="0"/>
                <a:ea typeface="Lora" pitchFamily="34" charset="-122"/>
                <a:cs typeface="Lora" pitchFamily="34" charset="-120"/>
              </a:rPr>
              <a:t>Cloudflare Tunnel</a:t>
            </a:r>
            <a:endParaRPr lang="en-US" sz="3650" dirty="0"/>
          </a:p>
        </p:txBody>
      </p:sp>
      <p:sp>
        <p:nvSpPr>
          <p:cNvPr id="4" name="Text 1"/>
          <p:cNvSpPr/>
          <p:nvPr/>
        </p:nvSpPr>
        <p:spPr>
          <a:xfrm>
            <a:off x="698086" y="2934395"/>
            <a:ext cx="6223638" cy="1874937"/>
          </a:xfrm>
          <a:prstGeom prst="rect">
            <a:avLst/>
          </a:prstGeom>
          <a:noFill/>
          <a:ln/>
        </p:spPr>
        <p:txBody>
          <a:bodyPr wrap="square" lIns="0" tIns="0" rIns="0" bIns="0" rtlCol="0" anchor="t">
            <a:normAutofit/>
          </a:bodyPr>
          <a:lstStyle/>
          <a:p>
            <a:pPr algn="l" marL="314960" indent="-314960">
              <a:lnSpc>
                <a:spcPct val="133000"/>
              </a:lnSpc>
              <a:buSzPct val="100000"/>
              <a:buChar char="•"/>
            </a:pPr>
            <a:r>
              <a:rPr lang="en-US" sz="1550" dirty="0">
                <a:solidFill>
                  <a:srgbClr val="D6E5EF"/>
                </a:solidFill>
                <a:latin typeface="Source Sans 3" pitchFamily="34" charset="0"/>
                <a:ea typeface="Source Sans 3" pitchFamily="34" charset="-122"/>
                <a:cs typeface="Source Sans 3" pitchFamily="34" charset="-120"/>
              </a:rPr>
              <a:t>Created a Cloudflare Tunnel</a:t>
            </a:r>
            <a:endParaRPr lang="en-US" sz="1550" dirty="0"/>
          </a:p>
          <a:p>
            <a:pPr algn="l" marL="314960" indent="-314960">
              <a:lnSpc>
                <a:spcPct val="133000"/>
              </a:lnSpc>
              <a:buSzPct val="100000"/>
              <a:buChar char="•"/>
            </a:pPr>
            <a:r>
              <a:rPr lang="en-US" sz="1550" dirty="0">
                <a:solidFill>
                  <a:srgbClr val="D6E5EF"/>
                </a:solidFill>
                <a:latin typeface="Source Sans 3" pitchFamily="34" charset="0"/>
                <a:ea typeface="Source Sans 3" pitchFamily="34" charset="-122"/>
                <a:cs typeface="Source Sans 3" pitchFamily="34" charset="-120"/>
              </a:rPr>
              <a:t>Connected the tunnel to Scoold</a:t>
            </a:r>
            <a:endParaRPr lang="en-US" sz="1550" dirty="0"/>
          </a:p>
          <a:p>
            <a:pPr algn="l" marL="314960" indent="-314960">
              <a:lnSpc>
                <a:spcPct val="133000"/>
              </a:lnSpc>
              <a:buSzPct val="100000"/>
              <a:buChar char="•"/>
            </a:pPr>
            <a:r>
              <a:rPr lang="en-US" sz="1550" dirty="0">
                <a:solidFill>
                  <a:srgbClr val="D6E5EF"/>
                </a:solidFill>
                <a:latin typeface="Source Sans 3" pitchFamily="34" charset="0"/>
                <a:ea typeface="Source Sans 3" pitchFamily="34" charset="-122"/>
                <a:cs typeface="Source Sans 3" pitchFamily="34" charset="-120"/>
              </a:rPr>
              <a:t>Published the application securely</a:t>
            </a:r>
            <a:endParaRPr lang="en-US" sz="1550" dirty="0"/>
          </a:p>
          <a:p>
            <a:pPr algn="l" marL="314960" indent="-314960">
              <a:lnSpc>
                <a:spcPct val="133000"/>
              </a:lnSpc>
              <a:buSzPct val="100000"/>
              <a:buChar char="•"/>
            </a:pPr>
            <a:r>
              <a:rPr lang="en-US" sz="1550" dirty="0">
                <a:solidFill>
                  <a:srgbClr val="D6E5EF"/>
                </a:solidFill>
                <a:latin typeface="Source Sans 3" pitchFamily="34" charset="0"/>
                <a:ea typeface="Source Sans 3" pitchFamily="34" charset="-122"/>
                <a:cs typeface="Source Sans 3" pitchFamily="34" charset="-120"/>
              </a:rPr>
              <a:t>HTTPS enabled</a:t>
            </a:r>
            <a:endParaRPr lang="en-US" sz="1550" dirty="0"/>
          </a:p>
          <a:p>
            <a:pPr algn="l" marL="314960" indent="-314960">
              <a:lnSpc>
                <a:spcPct val="133000"/>
              </a:lnSpc>
              <a:buSzPct val="100000"/>
              <a:buChar char="•"/>
            </a:pPr>
            <a:r>
              <a:rPr lang="en-US" sz="1550" dirty="0">
                <a:solidFill>
                  <a:srgbClr val="D6E5EF"/>
                </a:solidFill>
                <a:latin typeface="Source Sans 3" pitchFamily="34" charset="0"/>
                <a:ea typeface="Source Sans 3" pitchFamily="34" charset="-122"/>
                <a:cs typeface="Source Sans 3" pitchFamily="34" charset="-120"/>
              </a:rPr>
              <a:t>No port forwarding required</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2493466"/>
          </a:xfrm>
          <a:prstGeom prst="rect">
            <a:avLst/>
          </a:prstGeom>
        </p:spPr>
      </p:pic>
      <p:sp>
        <p:nvSpPr>
          <p:cNvPr id="3" name="Text 0"/>
          <p:cNvSpPr/>
          <p:nvPr/>
        </p:nvSpPr>
        <p:spPr>
          <a:xfrm>
            <a:off x="698086" y="3295352"/>
            <a:ext cx="10795524" cy="586680"/>
          </a:xfrm>
          <a:prstGeom prst="rect">
            <a:avLst/>
          </a:prstGeom>
          <a:noFill/>
          <a:ln/>
        </p:spPr>
        <p:txBody>
          <a:bodyPr wrap="none" lIns="0" tIns="0" rIns="0" bIns="0" rtlCol="0" anchor="t"/>
          <a:lstStyle/>
          <a:p>
            <a:pPr algn="l" indent="0" marL="0">
              <a:lnSpc>
                <a:spcPct val="104000"/>
              </a:lnSpc>
              <a:buNone/>
            </a:pPr>
            <a:r>
              <a:rPr lang="en-US" sz="3650" dirty="0">
                <a:solidFill>
                  <a:srgbClr val="F98AC7"/>
                </a:solidFill>
                <a:latin typeface="Lora" pitchFamily="34" charset="0"/>
                <a:ea typeface="Lora" pitchFamily="34" charset="-122"/>
                <a:cs typeface="Lora" pitchFamily="34" charset="-120"/>
              </a:rPr>
              <a:t>WordPress Deployment</a:t>
            </a:r>
            <a:endParaRPr lang="en-US" sz="3650" dirty="0"/>
          </a:p>
        </p:txBody>
      </p:sp>
      <p:sp>
        <p:nvSpPr>
          <p:cNvPr id="4" name="Text 1"/>
          <p:cNvSpPr/>
          <p:nvPr/>
        </p:nvSpPr>
        <p:spPr>
          <a:xfrm>
            <a:off x="698086" y="4181177"/>
            <a:ext cx="10795524" cy="1874937"/>
          </a:xfrm>
          <a:prstGeom prst="rect">
            <a:avLst/>
          </a:prstGeom>
          <a:noFill/>
          <a:ln/>
        </p:spPr>
        <p:txBody>
          <a:bodyPr wrap="square" lIns="0" tIns="0" rIns="0" bIns="0" rtlCol="0" anchor="t">
            <a:normAutofit/>
          </a:bodyPr>
          <a:lstStyle/>
          <a:p>
            <a:pPr algn="l" marL="314960" indent="-314960">
              <a:lnSpc>
                <a:spcPct val="133000"/>
              </a:lnSpc>
              <a:buSzPct val="100000"/>
              <a:buChar char="•"/>
            </a:pPr>
            <a:r>
              <a:rPr lang="en-US" sz="1550" dirty="0">
                <a:solidFill>
                  <a:srgbClr val="D6E5EF"/>
                </a:solidFill>
                <a:latin typeface="Source Sans 3" pitchFamily="34" charset="0"/>
                <a:ea typeface="Source Sans 3" pitchFamily="34" charset="-122"/>
                <a:cs typeface="Source Sans 3" pitchFamily="34" charset="-120"/>
              </a:rPr>
              <a:t>Installed WordPress in Docker</a:t>
            </a:r>
            <a:endParaRPr lang="en-US" sz="1550" dirty="0"/>
          </a:p>
          <a:p>
            <a:pPr algn="l" marL="314960" indent="-314960">
              <a:lnSpc>
                <a:spcPct val="133000"/>
              </a:lnSpc>
              <a:buSzPct val="100000"/>
              <a:buChar char="•"/>
            </a:pPr>
            <a:r>
              <a:rPr lang="en-US" sz="1550" dirty="0">
                <a:solidFill>
                  <a:srgbClr val="D6E5EF"/>
                </a:solidFill>
                <a:latin typeface="Source Sans 3" pitchFamily="34" charset="0"/>
                <a:ea typeface="Source Sans 3" pitchFamily="34" charset="-122"/>
                <a:cs typeface="Source Sans 3" pitchFamily="34" charset="-120"/>
              </a:rPr>
              <a:t>Configured MySQL database</a:t>
            </a:r>
            <a:endParaRPr lang="en-US" sz="1550" dirty="0"/>
          </a:p>
          <a:p>
            <a:pPr algn="l" marL="314960" indent="-314960">
              <a:lnSpc>
                <a:spcPct val="133000"/>
              </a:lnSpc>
              <a:buSzPct val="100000"/>
              <a:buChar char="•"/>
            </a:pPr>
            <a:r>
              <a:rPr lang="en-US" sz="1550" dirty="0">
                <a:solidFill>
                  <a:srgbClr val="D6E5EF"/>
                </a:solidFill>
                <a:latin typeface="Source Sans 3" pitchFamily="34" charset="0"/>
                <a:ea typeface="Source Sans 3" pitchFamily="34" charset="-122"/>
                <a:cs typeface="Source Sans 3" pitchFamily="34" charset="-120"/>
              </a:rPr>
              <a:t>Connected WordPress to the Docker network</a:t>
            </a:r>
            <a:endParaRPr lang="en-US" sz="1550" dirty="0"/>
          </a:p>
          <a:p>
            <a:pPr algn="l" marL="314960" indent="-314960">
              <a:lnSpc>
                <a:spcPct val="133000"/>
              </a:lnSpc>
              <a:buSzPct val="100000"/>
              <a:buChar char="•"/>
            </a:pPr>
            <a:r>
              <a:rPr lang="en-US" sz="1550" dirty="0">
                <a:solidFill>
                  <a:srgbClr val="D6E5EF"/>
                </a:solidFill>
                <a:latin typeface="Source Sans 3" pitchFamily="34" charset="0"/>
                <a:ea typeface="Source Sans 3" pitchFamily="34" charset="-122"/>
                <a:cs typeface="Source Sans 3" pitchFamily="34" charset="-120"/>
              </a:rPr>
              <a:t>Published the website through Cloudflare</a:t>
            </a:r>
            <a:endParaRPr lang="en-US" sz="1550" dirty="0"/>
          </a:p>
          <a:p>
            <a:pPr algn="l" marL="314960" indent="-314960">
              <a:lnSpc>
                <a:spcPct val="133000"/>
              </a:lnSpc>
              <a:buSzPct val="100000"/>
              <a:buChar char="•"/>
            </a:pPr>
            <a:r>
              <a:rPr lang="en-US" sz="1550" dirty="0">
                <a:solidFill>
                  <a:srgbClr val="D6E5EF"/>
                </a:solidFill>
                <a:latin typeface="Source Sans 3" pitchFamily="34" charset="0"/>
                <a:ea typeface="Source Sans 3" pitchFamily="34" charset="-122"/>
                <a:cs typeface="Source Sans 3" pitchFamily="34" charset="-120"/>
              </a:rPr>
              <a:t>Created a landing page for the community portal</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98086" y="2048570"/>
            <a:ext cx="6223638" cy="586680"/>
          </a:xfrm>
          <a:prstGeom prst="rect">
            <a:avLst/>
          </a:prstGeom>
          <a:noFill/>
          <a:ln/>
        </p:spPr>
        <p:txBody>
          <a:bodyPr wrap="none" lIns="0" tIns="0" rIns="0" bIns="0" rtlCol="0" anchor="t"/>
          <a:lstStyle/>
          <a:p>
            <a:pPr algn="l" indent="0" marL="0">
              <a:lnSpc>
                <a:spcPct val="104000"/>
              </a:lnSpc>
              <a:buNone/>
            </a:pPr>
            <a:r>
              <a:rPr lang="en-US" sz="3650" dirty="0">
                <a:solidFill>
                  <a:srgbClr val="F98AC7"/>
                </a:solidFill>
                <a:latin typeface="Lora" pitchFamily="34" charset="0"/>
                <a:ea typeface="Lora" pitchFamily="34" charset="-122"/>
                <a:cs typeface="Lora" pitchFamily="34" charset="-120"/>
              </a:rPr>
              <a:t>Custom Plugin</a:t>
            </a:r>
            <a:endParaRPr lang="en-US" sz="3650" dirty="0"/>
          </a:p>
        </p:txBody>
      </p:sp>
      <p:sp>
        <p:nvSpPr>
          <p:cNvPr id="4" name="Text 1"/>
          <p:cNvSpPr/>
          <p:nvPr/>
        </p:nvSpPr>
        <p:spPr>
          <a:xfrm>
            <a:off x="698086" y="2934395"/>
            <a:ext cx="6223638" cy="1874937"/>
          </a:xfrm>
          <a:prstGeom prst="rect">
            <a:avLst/>
          </a:prstGeom>
          <a:noFill/>
          <a:ln/>
        </p:spPr>
        <p:txBody>
          <a:bodyPr wrap="square" lIns="0" tIns="0" rIns="0" bIns="0" rtlCol="0" anchor="t">
            <a:normAutofit/>
          </a:bodyPr>
          <a:lstStyle/>
          <a:p>
            <a:pPr algn="l" marL="314960" indent="-314960">
              <a:lnSpc>
                <a:spcPct val="133000"/>
              </a:lnSpc>
              <a:buSzPct val="100000"/>
              <a:buChar char="•"/>
            </a:pPr>
            <a:r>
              <a:rPr lang="en-US" sz="1550" dirty="0">
                <a:solidFill>
                  <a:srgbClr val="D6E5EF"/>
                </a:solidFill>
                <a:latin typeface="Source Sans 3" pitchFamily="34" charset="0"/>
                <a:ea typeface="Source Sans 3" pitchFamily="34" charset="-122"/>
                <a:cs typeface="Source Sans 3" pitchFamily="34" charset="-120"/>
              </a:rPr>
              <a:t>Developed a custom WordPress plugin</a:t>
            </a:r>
            <a:endParaRPr lang="en-US" sz="1550" dirty="0"/>
          </a:p>
          <a:p>
            <a:pPr algn="l" marL="314960" indent="-314960">
              <a:lnSpc>
                <a:spcPct val="133000"/>
              </a:lnSpc>
              <a:buSzPct val="100000"/>
              <a:buChar char="•"/>
            </a:pPr>
            <a:r>
              <a:rPr lang="en-US" sz="1550" dirty="0">
                <a:solidFill>
                  <a:srgbClr val="D6E5EF"/>
                </a:solidFill>
                <a:latin typeface="Source Sans 3" pitchFamily="34" charset="0"/>
                <a:ea typeface="Source Sans 3" pitchFamily="34" charset="-122"/>
                <a:cs typeface="Source Sans 3" pitchFamily="34" charset="-120"/>
              </a:rPr>
              <a:t>Displayed live community statistics</a:t>
            </a:r>
            <a:endParaRPr lang="en-US" sz="1550" dirty="0"/>
          </a:p>
          <a:p>
            <a:pPr algn="l" marL="314960" indent="-314960">
              <a:lnSpc>
                <a:spcPct val="133000"/>
              </a:lnSpc>
              <a:buSzPct val="100000"/>
              <a:buChar char="•"/>
            </a:pPr>
            <a:r>
              <a:rPr lang="en-US" sz="1550" dirty="0">
                <a:solidFill>
                  <a:srgbClr val="D6E5EF"/>
                </a:solidFill>
                <a:latin typeface="Source Sans 3" pitchFamily="34" charset="0"/>
                <a:ea typeface="Source Sans 3" pitchFamily="34" charset="-122"/>
                <a:cs typeface="Source Sans 3" pitchFamily="34" charset="-120"/>
              </a:rPr>
              <a:t>Displayed recent Scoold questions</a:t>
            </a:r>
            <a:endParaRPr lang="en-US" sz="1550" dirty="0"/>
          </a:p>
          <a:p>
            <a:pPr algn="l" marL="314960" indent="-314960">
              <a:lnSpc>
                <a:spcPct val="133000"/>
              </a:lnSpc>
              <a:buSzPct val="100000"/>
              <a:buChar char="•"/>
            </a:pPr>
            <a:r>
              <a:rPr lang="en-US" sz="1550" dirty="0">
                <a:solidFill>
                  <a:srgbClr val="D6E5EF"/>
                </a:solidFill>
                <a:latin typeface="Source Sans 3" pitchFamily="34" charset="0"/>
                <a:ea typeface="Source Sans 3" pitchFamily="34" charset="-122"/>
                <a:cs typeface="Source Sans 3" pitchFamily="34" charset="-120"/>
              </a:rPr>
              <a:t>Added quick access to the platform</a:t>
            </a:r>
            <a:endParaRPr lang="en-US" sz="1550" dirty="0"/>
          </a:p>
          <a:p>
            <a:pPr algn="l" marL="314960" indent="-314960">
              <a:lnSpc>
                <a:spcPct val="133000"/>
              </a:lnSpc>
              <a:buSzPct val="100000"/>
              <a:buChar char="•"/>
            </a:pPr>
            <a:r>
              <a:rPr lang="en-US" sz="1550" dirty="0">
                <a:solidFill>
                  <a:srgbClr val="D6E5EF"/>
                </a:solidFill>
                <a:latin typeface="Source Sans 3" pitchFamily="34" charset="0"/>
                <a:ea typeface="Source Sans 3" pitchFamily="34" charset="-122"/>
                <a:cs typeface="Source Sans 3" pitchFamily="34" charset="-120"/>
              </a:rPr>
              <a:t>Embedded Scoold information inside WordPress</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98086" y="2048570"/>
            <a:ext cx="6223638" cy="586680"/>
          </a:xfrm>
          <a:prstGeom prst="rect">
            <a:avLst/>
          </a:prstGeom>
          <a:noFill/>
          <a:ln/>
        </p:spPr>
        <p:txBody>
          <a:bodyPr wrap="none" lIns="0" tIns="0" rIns="0" bIns="0" rtlCol="0" anchor="t"/>
          <a:lstStyle/>
          <a:p>
            <a:pPr algn="l" indent="0" marL="0">
              <a:lnSpc>
                <a:spcPct val="104000"/>
              </a:lnSpc>
              <a:buNone/>
            </a:pPr>
            <a:r>
              <a:rPr lang="en-US" sz="3650" dirty="0">
                <a:solidFill>
                  <a:srgbClr val="F98AC7"/>
                </a:solidFill>
                <a:latin typeface="Lora" pitchFamily="34" charset="0"/>
                <a:ea typeface="Lora" pitchFamily="34" charset="-122"/>
                <a:cs typeface="Lora" pitchFamily="34" charset="-120"/>
              </a:rPr>
              <a:t>Testing</a:t>
            </a:r>
            <a:endParaRPr lang="en-US" sz="3650" dirty="0"/>
          </a:p>
        </p:txBody>
      </p:sp>
      <p:sp>
        <p:nvSpPr>
          <p:cNvPr id="4" name="Text 1"/>
          <p:cNvSpPr/>
          <p:nvPr/>
        </p:nvSpPr>
        <p:spPr>
          <a:xfrm>
            <a:off x="698086" y="2934395"/>
            <a:ext cx="6223638" cy="1874937"/>
          </a:xfrm>
          <a:prstGeom prst="rect">
            <a:avLst/>
          </a:prstGeom>
          <a:noFill/>
          <a:ln/>
        </p:spPr>
        <p:txBody>
          <a:bodyPr wrap="square" lIns="0" tIns="0" rIns="0" bIns="0" rtlCol="0" anchor="t">
            <a:normAutofit/>
          </a:bodyPr>
          <a:lstStyle/>
          <a:p>
            <a:pPr algn="l" marL="314960" indent="-314960">
              <a:lnSpc>
                <a:spcPct val="133000"/>
              </a:lnSpc>
              <a:buSzPct val="100000"/>
              <a:buChar char="•"/>
            </a:pPr>
            <a:r>
              <a:rPr lang="en-US" sz="1550" dirty="0">
                <a:solidFill>
                  <a:srgbClr val="D6E5EF"/>
                </a:solidFill>
                <a:latin typeface="Source Sans 3" pitchFamily="34" charset="0"/>
                <a:ea typeface="Source Sans 3" pitchFamily="34" charset="-122"/>
                <a:cs typeface="Source Sans 3" pitchFamily="34" charset="-120"/>
              </a:rPr>
              <a:t>Verified Docker services</a:t>
            </a:r>
            <a:endParaRPr lang="en-US" sz="1550" dirty="0"/>
          </a:p>
          <a:p>
            <a:pPr algn="l" marL="314960" indent="-314960">
              <a:lnSpc>
                <a:spcPct val="133000"/>
              </a:lnSpc>
              <a:buSzPct val="100000"/>
              <a:buChar char="•"/>
            </a:pPr>
            <a:r>
              <a:rPr lang="en-US" sz="1550" dirty="0">
                <a:solidFill>
                  <a:srgbClr val="D6E5EF"/>
                </a:solidFill>
                <a:latin typeface="Source Sans 3" pitchFamily="34" charset="0"/>
                <a:ea typeface="Source Sans 3" pitchFamily="34" charset="-122"/>
                <a:cs typeface="Source Sans 3" pitchFamily="34" charset="-120"/>
              </a:rPr>
              <a:t>Verified Cloudflare Tunnel</a:t>
            </a:r>
            <a:endParaRPr lang="en-US" sz="1550" dirty="0"/>
          </a:p>
          <a:p>
            <a:pPr algn="l" marL="314960" indent="-314960">
              <a:lnSpc>
                <a:spcPct val="133000"/>
              </a:lnSpc>
              <a:buSzPct val="100000"/>
              <a:buChar char="•"/>
            </a:pPr>
            <a:r>
              <a:rPr lang="en-US" sz="1550" dirty="0">
                <a:solidFill>
                  <a:srgbClr val="D6E5EF"/>
                </a:solidFill>
                <a:latin typeface="Source Sans 3" pitchFamily="34" charset="0"/>
                <a:ea typeface="Source Sans 3" pitchFamily="34" charset="-122"/>
                <a:cs typeface="Source Sans 3" pitchFamily="34" charset="-120"/>
              </a:rPr>
              <a:t>Tested WordPress integration</a:t>
            </a:r>
            <a:endParaRPr lang="en-US" sz="1550" dirty="0"/>
          </a:p>
          <a:p>
            <a:pPr algn="l" marL="314960" indent="-314960">
              <a:lnSpc>
                <a:spcPct val="133000"/>
              </a:lnSpc>
              <a:buSzPct val="100000"/>
              <a:buChar char="•"/>
            </a:pPr>
            <a:r>
              <a:rPr lang="en-US" sz="1550" dirty="0">
                <a:solidFill>
                  <a:srgbClr val="D6E5EF"/>
                </a:solidFill>
                <a:latin typeface="Source Sans 3" pitchFamily="34" charset="0"/>
                <a:ea typeface="Source Sans 3" pitchFamily="34" charset="-122"/>
                <a:cs typeface="Source Sans 3" pitchFamily="34" charset="-120"/>
              </a:rPr>
              <a:t>Tested public access</a:t>
            </a:r>
            <a:endParaRPr lang="en-US" sz="1550" dirty="0"/>
          </a:p>
          <a:p>
            <a:pPr algn="l" marL="314960" indent="-314960">
              <a:lnSpc>
                <a:spcPct val="133000"/>
              </a:lnSpc>
              <a:buSzPct val="100000"/>
              <a:buChar char="•"/>
            </a:pPr>
            <a:r>
              <a:rPr lang="en-US" sz="1550" dirty="0">
                <a:solidFill>
                  <a:srgbClr val="D6E5EF"/>
                </a:solidFill>
                <a:latin typeface="Source Sans 3" pitchFamily="34" charset="0"/>
                <a:ea typeface="Source Sans 3" pitchFamily="34" charset="-122"/>
                <a:cs typeface="Source Sans 3" pitchFamily="34" charset="-120"/>
              </a:rPr>
              <a:t>Confirmed automatic container restart</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98086" y="2243038"/>
            <a:ext cx="6223638" cy="586680"/>
          </a:xfrm>
          <a:prstGeom prst="rect">
            <a:avLst/>
          </a:prstGeom>
          <a:noFill/>
          <a:ln/>
        </p:spPr>
        <p:txBody>
          <a:bodyPr wrap="none" lIns="0" tIns="0" rIns="0" bIns="0" rtlCol="0" anchor="t"/>
          <a:lstStyle/>
          <a:p>
            <a:pPr algn="l" indent="0" marL="0">
              <a:lnSpc>
                <a:spcPct val="104000"/>
              </a:lnSpc>
              <a:buNone/>
            </a:pPr>
            <a:r>
              <a:rPr lang="en-US" sz="3650" dirty="0">
                <a:solidFill>
                  <a:srgbClr val="F98AC7"/>
                </a:solidFill>
                <a:latin typeface="Lora" pitchFamily="34" charset="0"/>
                <a:ea typeface="Lora" pitchFamily="34" charset="-122"/>
                <a:cs typeface="Lora" pitchFamily="34" charset="-120"/>
              </a:rPr>
              <a:t>Final Deployment</a:t>
            </a:r>
            <a:endParaRPr lang="en-US" sz="3650" dirty="0"/>
          </a:p>
        </p:txBody>
      </p:sp>
      <p:sp>
        <p:nvSpPr>
          <p:cNvPr id="4" name="Text 1"/>
          <p:cNvSpPr/>
          <p:nvPr/>
        </p:nvSpPr>
        <p:spPr>
          <a:xfrm>
            <a:off x="698086" y="3128863"/>
            <a:ext cx="6223638" cy="1485999"/>
          </a:xfrm>
          <a:prstGeom prst="rect">
            <a:avLst/>
          </a:prstGeom>
          <a:noFill/>
          <a:ln/>
        </p:spPr>
        <p:txBody>
          <a:bodyPr wrap="square" lIns="0" tIns="0" rIns="0" bIns="0" rtlCol="0" anchor="t">
            <a:normAutofit/>
          </a:bodyPr>
          <a:lstStyle/>
          <a:p>
            <a:pPr algn="l" marL="314960" indent="-314960">
              <a:lnSpc>
                <a:spcPct val="133000"/>
              </a:lnSpc>
              <a:buSzPct val="100000"/>
              <a:buChar char="•"/>
            </a:pPr>
            <a:r>
              <a:rPr lang="en-US" sz="1550" dirty="0">
                <a:solidFill>
                  <a:srgbClr val="D6E5EF"/>
                </a:solidFill>
                <a:latin typeface="Source Sans 3" pitchFamily="34" charset="0"/>
                <a:ea typeface="Source Sans 3" pitchFamily="34" charset="-122"/>
                <a:cs typeface="Source Sans 3" pitchFamily="34" charset="-120"/>
              </a:rPr>
              <a:t>Scoold running successfully</a:t>
            </a:r>
            <a:endParaRPr lang="en-US" sz="1550" dirty="0"/>
          </a:p>
          <a:p>
            <a:pPr algn="l" marL="314960" indent="-314960">
              <a:lnSpc>
                <a:spcPct val="133000"/>
              </a:lnSpc>
              <a:buSzPct val="100000"/>
              <a:buChar char="•"/>
            </a:pPr>
            <a:r>
              <a:rPr lang="en-US" sz="1550" dirty="0">
                <a:solidFill>
                  <a:srgbClr val="D6E5EF"/>
                </a:solidFill>
                <a:latin typeface="Source Sans 3" pitchFamily="34" charset="0"/>
                <a:ea typeface="Source Sans 3" pitchFamily="34" charset="-122"/>
                <a:cs typeface="Source Sans 3" pitchFamily="34" charset="-120"/>
              </a:rPr>
              <a:t>WordPress integrated successfully</a:t>
            </a:r>
            <a:endParaRPr lang="en-US" sz="1550" dirty="0"/>
          </a:p>
          <a:p>
            <a:pPr algn="l" marL="314960" indent="-314960">
              <a:lnSpc>
                <a:spcPct val="133000"/>
              </a:lnSpc>
              <a:buSzPct val="100000"/>
              <a:buChar char="•"/>
            </a:pPr>
            <a:r>
              <a:rPr lang="en-US" sz="1550" dirty="0">
                <a:solidFill>
                  <a:srgbClr val="D6E5EF"/>
                </a:solidFill>
                <a:latin typeface="Source Sans 3" pitchFamily="34" charset="0"/>
                <a:ea typeface="Source Sans 3" pitchFamily="34" charset="-122"/>
                <a:cs typeface="Source Sans 3" pitchFamily="34" charset="-120"/>
              </a:rPr>
              <a:t>Public HTTPS access available</a:t>
            </a:r>
            <a:endParaRPr lang="en-US" sz="1550" dirty="0"/>
          </a:p>
          <a:p>
            <a:pPr algn="l" marL="314960" indent="-314960">
              <a:lnSpc>
                <a:spcPct val="133000"/>
              </a:lnSpc>
              <a:buSzPct val="100000"/>
              <a:buChar char="•"/>
            </a:pPr>
            <a:r>
              <a:rPr lang="en-US" sz="1550" dirty="0">
                <a:solidFill>
                  <a:srgbClr val="D6E5EF"/>
                </a:solidFill>
                <a:latin typeface="Source Sans 3" pitchFamily="34" charset="0"/>
                <a:ea typeface="Source Sans 3" pitchFamily="34" charset="-122"/>
                <a:cs typeface="Source Sans 3" pitchFamily="34" charset="-120"/>
              </a:rPr>
              <a:t>Docker services running correctly</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98086" y="1506835"/>
            <a:ext cx="6223638" cy="586680"/>
          </a:xfrm>
          <a:prstGeom prst="rect">
            <a:avLst/>
          </a:prstGeom>
          <a:noFill/>
          <a:ln/>
        </p:spPr>
        <p:txBody>
          <a:bodyPr wrap="none" lIns="0" tIns="0" rIns="0" bIns="0" rtlCol="0" anchor="t"/>
          <a:lstStyle/>
          <a:p>
            <a:pPr algn="l" indent="0" marL="0">
              <a:lnSpc>
                <a:spcPct val="104000"/>
              </a:lnSpc>
              <a:buNone/>
            </a:pPr>
            <a:r>
              <a:rPr lang="en-US" sz="3650" dirty="0">
                <a:solidFill>
                  <a:srgbClr val="F98AC7"/>
                </a:solidFill>
                <a:latin typeface="Lora" pitchFamily="34" charset="0"/>
                <a:ea typeface="Lora" pitchFamily="34" charset="-122"/>
                <a:cs typeface="Lora" pitchFamily="34" charset="-120"/>
              </a:rPr>
              <a:t>Conclusion</a:t>
            </a:r>
            <a:endParaRPr lang="en-US" sz="3650" dirty="0"/>
          </a:p>
        </p:txBody>
      </p:sp>
      <p:sp>
        <p:nvSpPr>
          <p:cNvPr id="4" name="Text 1"/>
          <p:cNvSpPr/>
          <p:nvPr/>
        </p:nvSpPr>
        <p:spPr>
          <a:xfrm>
            <a:off x="698086" y="2392660"/>
            <a:ext cx="6223638" cy="1485999"/>
          </a:xfrm>
          <a:prstGeom prst="rect">
            <a:avLst/>
          </a:prstGeom>
          <a:noFill/>
          <a:ln/>
        </p:spPr>
        <p:txBody>
          <a:bodyPr wrap="square" lIns="0" tIns="0" rIns="0" bIns="0" rtlCol="0" anchor="t">
            <a:normAutofit/>
          </a:bodyPr>
          <a:lstStyle/>
          <a:p>
            <a:pPr algn="l" marL="314960" indent="-314960">
              <a:lnSpc>
                <a:spcPct val="133000"/>
              </a:lnSpc>
              <a:buSzPct val="100000"/>
              <a:buChar char="•"/>
            </a:pPr>
            <a:r>
              <a:rPr lang="en-US" sz="1550" dirty="0">
                <a:solidFill>
                  <a:srgbClr val="D6E5EF"/>
                </a:solidFill>
                <a:latin typeface="Source Sans 3" pitchFamily="34" charset="0"/>
                <a:ea typeface="Source Sans 3" pitchFamily="34" charset="-122"/>
                <a:cs typeface="Source Sans 3" pitchFamily="34" charset="-120"/>
              </a:rPr>
              <a:t>Successfully deployed Scoold using Docker</a:t>
            </a:r>
            <a:endParaRPr lang="en-US" sz="1550" dirty="0"/>
          </a:p>
          <a:p>
            <a:pPr algn="l" marL="314960" indent="-314960">
              <a:lnSpc>
                <a:spcPct val="133000"/>
              </a:lnSpc>
              <a:buSzPct val="100000"/>
              <a:buChar char="•"/>
            </a:pPr>
            <a:r>
              <a:rPr lang="en-US" sz="1550" dirty="0">
                <a:solidFill>
                  <a:srgbClr val="D6E5EF"/>
                </a:solidFill>
                <a:latin typeface="Source Sans 3" pitchFamily="34" charset="0"/>
                <a:ea typeface="Source Sans 3" pitchFamily="34" charset="-122"/>
                <a:cs typeface="Source Sans 3" pitchFamily="34" charset="-120"/>
              </a:rPr>
              <a:t>Published the platform securely</a:t>
            </a:r>
            <a:endParaRPr lang="en-US" sz="1550" dirty="0"/>
          </a:p>
          <a:p>
            <a:pPr algn="l" marL="314960" indent="-314960">
              <a:lnSpc>
                <a:spcPct val="133000"/>
              </a:lnSpc>
              <a:buSzPct val="100000"/>
              <a:buChar char="•"/>
            </a:pPr>
            <a:r>
              <a:rPr lang="en-US" sz="1550" dirty="0">
                <a:solidFill>
                  <a:srgbClr val="D6E5EF"/>
                </a:solidFill>
                <a:latin typeface="Source Sans 3" pitchFamily="34" charset="0"/>
                <a:ea typeface="Source Sans 3" pitchFamily="34" charset="-122"/>
                <a:cs typeface="Source Sans 3" pitchFamily="34" charset="-120"/>
              </a:rPr>
              <a:t>Integrated WordPress with Scoold</a:t>
            </a:r>
            <a:endParaRPr lang="en-US" sz="1550" dirty="0"/>
          </a:p>
          <a:p>
            <a:pPr algn="l" marL="314960" indent="-314960">
              <a:lnSpc>
                <a:spcPct val="133000"/>
              </a:lnSpc>
              <a:buSzPct val="100000"/>
              <a:buChar char="•"/>
            </a:pPr>
            <a:r>
              <a:rPr lang="en-US" sz="1550" dirty="0">
                <a:solidFill>
                  <a:srgbClr val="D6E5EF"/>
                </a:solidFill>
                <a:latin typeface="Source Sans 3" pitchFamily="34" charset="0"/>
                <a:ea typeface="Source Sans 3" pitchFamily="34" charset="-122"/>
                <a:cs typeface="Source Sans 3" pitchFamily="34" charset="-120"/>
              </a:rPr>
              <a:t>Built a complete containerized deployment environment</a:t>
            </a:r>
            <a:endParaRPr lang="en-US" sz="1550" dirty="0"/>
          </a:p>
        </p:txBody>
      </p:sp>
      <p:sp>
        <p:nvSpPr>
          <p:cNvPr id="5" name="Text 2"/>
          <p:cNvSpPr/>
          <p:nvPr/>
        </p:nvSpPr>
        <p:spPr>
          <a:xfrm>
            <a:off x="698086" y="4177804"/>
            <a:ext cx="6223638" cy="1173361"/>
          </a:xfrm>
          <a:prstGeom prst="rect">
            <a:avLst/>
          </a:prstGeom>
          <a:noFill/>
          <a:ln/>
        </p:spPr>
        <p:txBody>
          <a:bodyPr wrap="none" lIns="0" tIns="0" rIns="0" bIns="0" rtlCol="0" anchor="t"/>
          <a:lstStyle/>
          <a:p>
            <a:pPr algn="ctr" indent="0" marL="0">
              <a:lnSpc>
                <a:spcPct val="104000"/>
              </a:lnSpc>
              <a:buNone/>
            </a:pPr>
            <a:r>
              <a:rPr lang="en-US" sz="7350" dirty="0">
                <a:solidFill>
                  <a:srgbClr val="F98AC7"/>
                </a:solidFill>
                <a:latin typeface="Lora" pitchFamily="34" charset="0"/>
                <a:ea typeface="Lora" pitchFamily="34" charset="-122"/>
                <a:cs typeface="Lora" pitchFamily="34" charset="-120"/>
              </a:rPr>
              <a:t>Thank You</a:t>
            </a:r>
            <a:endParaRPr lang="en-US" sz="7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2026-07-31T22:04:54Z</dcterms:created>
  <dcterms:modified xsi:type="dcterms:W3CDTF">2026-07-31T22:04:54Z</dcterms:modified>
</cp:coreProperties>
</file>